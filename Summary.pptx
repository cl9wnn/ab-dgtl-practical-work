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7" r:id="rId8"/>
    <p:sldId id="268" r:id="rId9"/>
    <p:sldId id="272" r:id="rId10"/>
    <p:sldId id="269" r:id="rId11"/>
    <p:sldId id="270" r:id="rId12"/>
    <p:sldId id="261" r:id="rId13"/>
    <p:sldId id="279" r:id="rId14"/>
    <p:sldId id="262" r:id="rId15"/>
    <p:sldId id="263" r:id="rId16"/>
    <p:sldId id="274" r:id="rId17"/>
    <p:sldId id="275" r:id="rId18"/>
    <p:sldId id="264" r:id="rId19"/>
    <p:sldId id="276" r:id="rId20"/>
    <p:sldId id="277" r:id="rId21"/>
    <p:sldId id="278" r:id="rId22"/>
    <p:sldId id="265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D0F58-8B26-41B4-A20E-A8F90C392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3D3710-211F-4438-AF6B-F809D4DBA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C9581C-79C9-4EC9-B6EC-32A6BDD9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64B644-448E-45AA-970E-E4BBC335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B7C74B-F0C0-4B81-B125-02BE9F51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95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AB594-C2E7-40A9-A1FF-56A15D5B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5502B-213B-478E-8AF1-4ED0913B6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C20813-1493-4C6D-8B4E-B1F0B52D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63445B-DB44-4879-A58B-BDCD7BE3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0D7C5D-84A2-4D7E-961B-B6E38D4A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72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C9885-0108-42B6-AC96-B6F26F190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69A719-8D8F-4E47-B524-70FC3810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68E54E-2A44-4668-BD56-402376F9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A56F76-25F1-4072-A550-B18D6581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581F81-8622-48D8-9FB5-6C48B371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9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8A027-F6A6-4549-83F3-48E7E382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4CF1EF-0DD0-40A5-8B43-AFE7E630F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6782D0-C1C0-4CE3-B9D9-29065F04C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BEA945-26C2-468A-B958-123B6B23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2D6BD6-DCFF-4594-B37D-171D5A88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29B17B-AD1C-4C02-B9A7-76A9C09C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062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964E8-11EE-46D6-BE21-4C2DDA9C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ACFB3F-5E9C-4030-A251-3D30D725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F2A7A1-A0E7-4B0C-A5C2-D5D439321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D65401-5765-4374-B17B-98CE3FBD7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5E4EC6-DD6F-4B15-A361-DBA34DDAC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1F84DF3-DAAF-471E-8243-CA607FB8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DB5228-454A-40AF-87DD-A09D260E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492DFD-28CC-4B39-B0D2-3E1EDB7F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18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87722-5302-4718-93C9-02C8D9E8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BC36FF-D9CA-4135-AA21-47F30987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058575-FA5B-4CFA-B073-EF15021E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E7057A-69EC-49C8-A808-972EEC50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45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41FC22A-AF8C-45D6-B870-8ED8FDD4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8A872B-207E-464C-8B74-DBDFECA8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BAF01D-EE5C-4EA8-AF3D-4A0F1795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86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FFEA5-5F4B-4BAC-92D7-7CEBDD25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38F304-CADA-452D-8538-BC1744415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894B30-2843-4E8F-BE8D-2D7A3DD14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49AB2-E176-462C-A007-E1C86038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76C11-2DD2-4E10-B464-9C15F645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A2B0DF-328D-41B3-A434-AA25449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23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C8A91-9803-47A8-A2F4-4DE1E7A9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5D5C97-C3C1-4DD2-B3B4-CA8AC3B1B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5123F9-4B26-4E3E-A11D-5CEF8E5F7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C70090-9B3E-4E6A-8678-764792C1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FBDC0D-6BEF-4229-88E0-275CE3E3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BFAD86-1054-41D2-A0FE-CE16E3AA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93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50272-405C-416D-BE1C-AE18CBA0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2CCF72-21AB-436E-8DCD-FE9DBC5D5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4F2CD7-FB72-4E83-B944-2731DD92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024579-49BD-4803-B126-69426DF9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88311C-D297-4B46-B5A2-88E58D39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91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A7BFC75-4209-415E-B053-E24864027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6E000B-FDB3-42BB-B14D-126EBEAB8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9335D-F538-40F5-B684-3FE356A0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713B58-2D64-4EC0-8321-F0081EE7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E29D43-61F3-466D-AA26-9960D91D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59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92DD1-7F86-45D0-8839-D8EB89D6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1BE918-24B9-466F-A55D-CC927938F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BC6042-1316-4E6D-8562-DC5BEA3B8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66D03-76BF-473F-9F23-749C55B1AD87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F3460-07B3-48F6-B19A-C2E59E020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80437D-152B-44E6-941A-2C707E46D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A63A8-762F-4C83-9EF1-BEC3C88AD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09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l9wnn/ab-dgtl-practical-wor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2EFE1-C93C-4C3D-ABD3-341B86DD9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6507"/>
            <a:ext cx="9144000" cy="2387600"/>
          </a:xfrm>
        </p:spPr>
        <p:txBody>
          <a:bodyPr>
            <a:noAutofit/>
          </a:bodyPr>
          <a:lstStyle/>
          <a:p>
            <a:r>
              <a:rPr lang="ru-RU" sz="4800" dirty="0">
                <a:latin typeface="Arial Black" panose="020B0A04020102020204" pitchFamily="34" charset="0"/>
              </a:rPr>
              <a:t>Технологическая (проектно-технологическая практика) по </a:t>
            </a:r>
            <a:r>
              <a:rPr lang="en-US" sz="4800" dirty="0">
                <a:latin typeface="Arial Black" panose="020B0A04020102020204" pitchFamily="34" charset="0"/>
              </a:rPr>
              <a:t>.NET</a:t>
            </a:r>
            <a:endParaRPr lang="ru-RU" sz="4800" dirty="0">
              <a:latin typeface="Arial Black" panose="020B0A040201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BE06EF-A8BD-4828-BBB4-2DDB4A560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0314" y="5421411"/>
            <a:ext cx="9144000" cy="1290474"/>
          </a:xfrm>
        </p:spPr>
        <p:txBody>
          <a:bodyPr>
            <a:normAutofit/>
          </a:bodyPr>
          <a:lstStyle/>
          <a:p>
            <a:pPr algn="r"/>
            <a:r>
              <a:rPr lang="ru-RU" sz="2000" dirty="0"/>
              <a:t>Выполнил студент 3 курса</a:t>
            </a:r>
          </a:p>
          <a:p>
            <a:pPr algn="r"/>
            <a:r>
              <a:rPr lang="ru-RU" sz="2000" dirty="0"/>
              <a:t>группы 11-307 </a:t>
            </a:r>
          </a:p>
          <a:p>
            <a:pPr algn="r"/>
            <a:r>
              <a:rPr lang="ru-RU" sz="2000" dirty="0"/>
              <a:t>Удиряков Егор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DA05A7-0257-495E-8E7C-89BCFC62E176}"/>
              </a:ext>
            </a:extLst>
          </p:cNvPr>
          <p:cNvSpPr/>
          <p:nvPr/>
        </p:nvSpPr>
        <p:spPr>
          <a:xfrm>
            <a:off x="3495492" y="4367114"/>
            <a:ext cx="4933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https://github.com/cl9wnn/ab-dgtl-practical-work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019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EF579-0E94-45ED-911B-2271E058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11" y="148309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3AE4E-E854-44E7-890D-9FC0DA8AC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11" y="168126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Освоить проектирование распределённой backend-системы на платформе .NET с использованием принципов чистой архитектуры и объектно-ориентированного подхода. 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Получить практический опыт построения масштабируемой серверной инфраструктуры, включающей базы данных, кэширование, файловое хранилище и контейнеризированное окружение. 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Изучить подходы к интеграции сервисов и асинхронному взаимодействию компонентов системы с использованием брокеров сообщений и механизмов событийной обработки. 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Освоить методы автоматизации серверных процессов, включая выполнение фоновых задач, генерацию отчётности и отправку уведомлений. </a:t>
            </a:r>
          </a:p>
          <a:p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Сформировать навыки обеспечения качества backend-приложений, включая тестирование, документирование API и подготовку эксплуатационной документации.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164228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EF579-0E94-45ED-911B-2271E058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11" y="148309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3AE4E-E854-44E7-890D-9FC0DA8AC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11" y="1156652"/>
            <a:ext cx="10515600" cy="52441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Разработать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backend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-систему управления библиотекой с использованием .NET и принципов чистой архитектуры.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Реализовать модули управления книгами, читателями и процессами выдачи/возврата книг.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Освоить применение принципов ООП: инкапсуляции, наследования, абстракции и полиморфизма.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Организовать хранение данных в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PostgreSQL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и реализовать работу с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Framework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и миграциями.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Настроить кэширование данных с использованием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Redis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Реализовать хранение файлов и отчетов в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MinIO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Освоить контейнеризацию приложения и инфраструктуры с помощью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Реализовать REST API с документацией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Swagger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и системой валидации данных.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Настроить межсервисное взаимодействие через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RabbitMQ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с публикацией и обработкой событий.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Разработать отдельный сервис отчетности с генерацией CSV-отчетов и обработкой событий библиотеки.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Реализовать систему фоновых задач с использованием Quartz.NET или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Hangfire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Настроить автоматическую отправку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-уведомлений и еженедельных отчетов через SMTP-сервис.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Выполнить тестирование системы, включая юнит- и интеграционные тесты. 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Подготовить документацию проекта, инструкции по запуску и описание архитектурных решений. </a:t>
            </a:r>
          </a:p>
          <a:p>
            <a:pPr marL="0" indent="0">
              <a:buNone/>
            </a:pP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08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1FC92-B6F2-4A46-857C-2587EA3D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7" y="176588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Исходная архитектура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12C65D0-F894-4E7C-9962-5901CEA6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077" y="14173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>
                <a:latin typeface="Calibri" panose="020F0502020204030204" pitchFamily="34" charset="0"/>
                <a:cs typeface="Calibri" panose="020F0502020204030204" pitchFamily="34" charset="0"/>
              </a:rPr>
              <a:t>Проблема: </a:t>
            </a: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сервис отчетов нарушал принцип единственной ответственности (SRP), поскольку помимо генерации отчетов также содержал бизнес-логику, связанную с управлением еженедельной отчетностью библиотеки: запуск фоновой задачи, сбор статистики и отправку уведомлений администрации.</a:t>
            </a:r>
          </a:p>
          <a:p>
            <a:pPr marL="0" indent="0">
              <a:buNone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E2A9C3-F191-4B38-9417-D11753D8C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30" y="2650277"/>
            <a:ext cx="7154945" cy="39296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49CB91-A15E-4DB4-B512-ED88C945CC4E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791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80050-92B2-4709-914B-24D7CC0C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47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Целевая архитектура</a:t>
            </a:r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A9B09346-AFB3-4911-BA45-472C5A7D1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077" y="141731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Решение: </a:t>
            </a:r>
            <a:r>
              <a:rPr lang="ru-RU" sz="1800" dirty="0"/>
              <a:t>Функциональность, относящаяся к доменной области библиотеки (фоновая задача формирования отчета, логика получения статистики библиотеки, отправка электронной почты администрации), была перенесена в сервис библиотеки из сервиса отчетов. В сервисе отчетов осталась только его основная ответственность — генерация CSV-отчетов.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6DD577-A022-482D-AE82-E882E83AA1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/>
          <a:stretch/>
        </p:blipFill>
        <p:spPr>
          <a:xfrm>
            <a:off x="1583704" y="2600632"/>
            <a:ext cx="8220172" cy="4156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3FE64C-0E86-4FA7-ADD4-48BADF8929F7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54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412-59F0-4650-AE6A-DE7F29A8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004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Примеры рефакторинга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EE1BF-4D40-4EA3-B219-E53783BE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14" y="149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Оптимизация </a:t>
            </a:r>
            <a:r>
              <a:rPr lang="en-US" sz="2000" dirty="0"/>
              <a:t>EF Core </a:t>
            </a:r>
            <a:r>
              <a:rPr lang="ru-RU" sz="2000" dirty="0"/>
              <a:t>запросов</a:t>
            </a:r>
            <a:r>
              <a:rPr lang="en-US" sz="2000" dirty="0"/>
              <a:t>: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9DC5-52F6-4077-A099-F1987743B580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AF1748-CAEB-454D-8E77-35150E429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64217"/>
            <a:ext cx="9713782" cy="377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82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412-59F0-4650-AE6A-DE7F29A8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7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Примеры рефакторинга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EE1BF-4D40-4EA3-B219-E53783BE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14" y="149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Оптимизация </a:t>
            </a:r>
            <a:r>
              <a:rPr lang="en-US" sz="2000" dirty="0"/>
              <a:t>EF Core </a:t>
            </a:r>
            <a:r>
              <a:rPr lang="ru-RU" sz="2000" dirty="0"/>
              <a:t>запросов</a:t>
            </a:r>
            <a:r>
              <a:rPr lang="en-US" sz="2000" dirty="0"/>
              <a:t>: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9DC5-52F6-4077-A099-F1987743B580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0AF78EF-09C2-41CD-8922-EAE7015C3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27" y="1965590"/>
            <a:ext cx="7556501" cy="421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60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412-59F0-4650-AE6A-DE7F29A8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004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Примеры рефакторинга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EE1BF-4D40-4EA3-B219-E53783BE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14" y="149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Оптимизация </a:t>
            </a:r>
            <a:r>
              <a:rPr lang="en-US" sz="2000" dirty="0"/>
              <a:t>EF Core </a:t>
            </a:r>
            <a:r>
              <a:rPr lang="ru-RU" sz="2000" dirty="0"/>
              <a:t>запросов</a:t>
            </a:r>
            <a:r>
              <a:rPr lang="en-US" sz="2000" dirty="0"/>
              <a:t>: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9DC5-52F6-4077-A099-F1987743B580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9AF04C-0C20-41F8-875D-D4C70EAED7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6"/>
          <a:stretch/>
        </p:blipFill>
        <p:spPr>
          <a:xfrm>
            <a:off x="836628" y="2173222"/>
            <a:ext cx="10620213" cy="3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5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412-59F0-4650-AE6A-DE7F29A8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004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Примеры рефакторинга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EE1BF-4D40-4EA3-B219-E53783BE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14" y="149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Решение проблемы дублирования общей логики между сервисами</a:t>
            </a:r>
            <a:r>
              <a:rPr lang="en-US" sz="2000" dirty="0"/>
              <a:t>: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9DC5-52F6-4077-A099-F1987743B580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A5A0A3-787C-4B39-B852-8C5C15904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12" y="1938255"/>
            <a:ext cx="4074200" cy="439519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870472D-77AD-4F9D-8462-DD79A9CEE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09" y="1938255"/>
            <a:ext cx="3841181" cy="439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2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412-59F0-4650-AE6A-DE7F29A8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7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Примеры рефакторинга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EE1BF-4D40-4EA3-B219-E53783BE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14" y="149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Добавление поддержки отмены асинхронных операций</a:t>
            </a:r>
            <a:r>
              <a:rPr lang="en-US" sz="2000" dirty="0"/>
              <a:t>: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9DC5-52F6-4077-A099-F1987743B580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605666-AD59-4E2B-A278-8092B904B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28" y="1900177"/>
            <a:ext cx="7827095" cy="470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14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D3412-59F0-4650-AE6A-DE7F29A8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97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Примеры рефакторинга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EE1BF-4D40-4EA3-B219-E53783BE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14" y="149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Добавление поддержки отмены асинхронных операций</a:t>
            </a:r>
            <a:r>
              <a:rPr lang="en-US" sz="2000" dirty="0"/>
              <a:t>:</a:t>
            </a: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9DC5-52F6-4077-A099-F1987743B580}"/>
              </a:ext>
            </a:extLst>
          </p:cNvPr>
          <p:cNvSpPr txBox="1"/>
          <p:nvPr/>
        </p:nvSpPr>
        <p:spPr>
          <a:xfrm>
            <a:off x="8955465" y="6384466"/>
            <a:ext cx="304485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см. в </a:t>
            </a:r>
            <a:r>
              <a:rPr lang="en-US" dirty="0"/>
              <a:t>REPORT.md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129952-F46C-4C5B-AB41-6F24AC1C0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95" y="1943678"/>
            <a:ext cx="6383028" cy="47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4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09D94-7AE8-4F9C-9C14-589A0EB5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150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Структура </a:t>
            </a:r>
            <a:r>
              <a:rPr lang="en-US" dirty="0">
                <a:latin typeface="Arial Black" panose="020B0A04020102020204" pitchFamily="34" charset="0"/>
              </a:rPr>
              <a:t>unit</a:t>
            </a:r>
            <a:r>
              <a:rPr lang="ru-RU" dirty="0">
                <a:latin typeface="Arial Black" panose="020B0A04020102020204" pitchFamily="34" charset="0"/>
              </a:rPr>
              <a:t>-тестов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684468-0641-4A52-A6BD-A8344CB7B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Написаны юнит-тесты для доменного слоя обоих сервисов</a:t>
            </a:r>
            <a:r>
              <a:rPr lang="en-US" sz="1800" dirty="0"/>
              <a:t>:</a:t>
            </a:r>
            <a:endParaRPr lang="ru-RU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417EA1-8C18-431D-80A5-A94A2A51E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191" y="2417771"/>
            <a:ext cx="3856348" cy="40495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9E53F5-AB12-4ECE-836E-19A23C1F8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30" y="3253217"/>
            <a:ext cx="5423860" cy="321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6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6DB14-76ED-4F90-97EB-73DA1809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857"/>
            <a:ext cx="10515600" cy="1325563"/>
          </a:xfrm>
        </p:spPr>
        <p:txBody>
          <a:bodyPr/>
          <a:lstStyle/>
          <a:p>
            <a:r>
              <a:rPr lang="ru-RU">
                <a:latin typeface="Arial Black" panose="020B0A04020102020204" pitchFamily="34" charset="0"/>
              </a:rPr>
              <a:t>Результаты покрытия тестами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E706C82-5F10-44F8-A947-FA8A5CD8E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442" y="138256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Покрытие доменной логики сервиса библиотеки</a:t>
            </a:r>
            <a:r>
              <a:rPr lang="en-US" sz="1800" dirty="0"/>
              <a:t> c </a:t>
            </a:r>
            <a:r>
              <a:rPr lang="ru-RU" sz="1800" dirty="0"/>
              <a:t>помощью </a:t>
            </a:r>
            <a:r>
              <a:rPr lang="en-US" sz="1800" dirty="0"/>
              <a:t>Coverlet:</a:t>
            </a:r>
            <a:endParaRPr lang="ru-RU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2B3192-2C36-4F09-838A-86395F98B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42" y="1759637"/>
            <a:ext cx="9813115" cy="4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66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6DB14-76ED-4F90-97EB-73DA1809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857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Результаты покрытия тестами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E706C82-5F10-44F8-A947-FA8A5CD8E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745" y="14391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/>
              <a:t>Покрытие доменной логики сервиса отчетов</a:t>
            </a:r>
            <a:r>
              <a:rPr lang="en-US" sz="1800" dirty="0"/>
              <a:t> c </a:t>
            </a:r>
            <a:r>
              <a:rPr lang="ru-RU" sz="1800" dirty="0"/>
              <a:t>помощью </a:t>
            </a:r>
            <a:r>
              <a:rPr lang="en-US" sz="1800" dirty="0"/>
              <a:t>Coverlet:</a:t>
            </a:r>
            <a:endParaRPr lang="ru-RU" sz="18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7B88087-431B-4FBC-9E8F-2ACFD55FC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745" y="1793883"/>
            <a:ext cx="9539950" cy="488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65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5ECFC-CCD5-462C-88BD-7A0AE375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Процесс миграции на </a:t>
            </a:r>
            <a:r>
              <a:rPr lang="en-US" dirty="0">
                <a:latin typeface="Arial Black" panose="020B0A04020102020204" pitchFamily="34" charset="0"/>
              </a:rPr>
              <a:t>.NET 10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ABECC-1A0F-4C27-8CCE-52F35EEA7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Проведена миграция обоих сервисов с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.NET 8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.NET 10: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Во всех проектах изменён TargetFramework на net10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Все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NuGet-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пакеты обновлены до версий, совместимых с .NET 10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Удалены и заменены устаревшие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NuGet-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пакеты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Обновлена версия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C#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до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latest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Обновлены образы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.NET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Формат решения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.sln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обновлен до более современного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.slnx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с читаемой структурой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7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5ECFC-CCD5-462C-88BD-7A0AE375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03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Процесс миграции на </a:t>
            </a:r>
            <a:r>
              <a:rPr lang="en-US" dirty="0">
                <a:latin typeface="Arial Black" panose="020B0A04020102020204" pitchFamily="34" charset="0"/>
              </a:rPr>
              <a:t>.NET 10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56EBF4E6-C89E-4409-8C8A-9D36C0529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61" y="1805103"/>
            <a:ext cx="7598780" cy="49073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95C7E-2C99-47F4-918C-46744D7A651C}"/>
              </a:ext>
            </a:extLst>
          </p:cNvPr>
          <p:cNvSpPr txBox="1"/>
          <p:nvPr/>
        </p:nvSpPr>
        <p:spPr>
          <a:xfrm>
            <a:off x="1809948" y="1416917"/>
            <a:ext cx="6301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обновления версий пакетов для сервиса библиотеки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25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5ECFC-CCD5-462C-88BD-7A0AE375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03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Процесс миграции на </a:t>
            </a:r>
            <a:r>
              <a:rPr lang="en-US" dirty="0">
                <a:latin typeface="Arial Black" panose="020B0A04020102020204" pitchFamily="34" charset="0"/>
              </a:rPr>
              <a:t>.NET 10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0C8B27-75DC-4548-BB63-BE974ACB6E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658"/>
          <a:stretch/>
        </p:blipFill>
        <p:spPr>
          <a:xfrm>
            <a:off x="1632016" y="1932632"/>
            <a:ext cx="8266130" cy="23070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06A320-F373-4CED-9BC2-C81C0422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016" y="4465548"/>
            <a:ext cx="8266130" cy="22374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A166CD-AD57-4358-A960-910E65796FA0}"/>
              </a:ext>
            </a:extLst>
          </p:cNvPr>
          <p:cNvSpPr txBox="1"/>
          <p:nvPr/>
        </p:nvSpPr>
        <p:spPr>
          <a:xfrm>
            <a:off x="1536570" y="1509404"/>
            <a:ext cx="4290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обновления</a:t>
            </a:r>
            <a:r>
              <a:rPr lang="en-US" dirty="0"/>
              <a:t> </a:t>
            </a:r>
            <a:r>
              <a:rPr lang="ru-RU" dirty="0"/>
              <a:t>проекта и </a:t>
            </a:r>
            <a:r>
              <a:rPr lang="en-US" dirty="0"/>
              <a:t>Dockerfile: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1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994-7978-40FC-BFF0-655BBA6B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Созданная документация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7A36963-44ED-4C1C-BBFB-6765F047E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проект добавлена</a:t>
            </a:r>
            <a:r>
              <a:rPr lang="en-US" dirty="0"/>
              <a:t>:</a:t>
            </a:r>
          </a:p>
          <a:p>
            <a:r>
              <a:rPr lang="ru-RU" dirty="0"/>
              <a:t>Полная </a:t>
            </a:r>
            <a:r>
              <a:rPr lang="en-US" dirty="0"/>
              <a:t>XML </a:t>
            </a:r>
            <a:r>
              <a:rPr lang="ru-RU" dirty="0"/>
              <a:t>документация кода</a:t>
            </a:r>
            <a:endParaRPr lang="en-US" dirty="0"/>
          </a:p>
          <a:p>
            <a:r>
              <a:rPr lang="en-US" dirty="0"/>
              <a:t>Swagger</a:t>
            </a:r>
            <a:r>
              <a:rPr lang="ru-RU" dirty="0"/>
              <a:t> документация </a:t>
            </a:r>
            <a:r>
              <a:rPr lang="en-US" dirty="0"/>
              <a:t>API</a:t>
            </a:r>
            <a:endParaRPr lang="ru-RU" dirty="0"/>
          </a:p>
          <a:p>
            <a:r>
              <a:rPr lang="en-US" dirty="0"/>
              <a:t>README </a:t>
            </a:r>
            <a:r>
              <a:rPr lang="ru-RU" dirty="0"/>
              <a:t>инструкция для репозитория </a:t>
            </a:r>
            <a:r>
              <a:rPr lang="en-US" dirty="0"/>
              <a:t>PracticalWork, </a:t>
            </a:r>
            <a:r>
              <a:rPr lang="ru-RU" dirty="0"/>
              <a:t>содержащая общую информацию и инструкцию по разворачиванию сервисов</a:t>
            </a:r>
          </a:p>
          <a:p>
            <a:r>
              <a:rPr lang="en-US" dirty="0"/>
              <a:t>README </a:t>
            </a:r>
            <a:r>
              <a:rPr lang="ru-RU" dirty="0"/>
              <a:t>инструкции для каждого решения, содержащие общую информацию и </a:t>
            </a:r>
            <a:r>
              <a:rPr lang="en-US" dirty="0"/>
              <a:t>use cases </a:t>
            </a:r>
            <a:r>
              <a:rPr lang="ru-RU" dirty="0"/>
              <a:t>для каждого сервиса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1653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994-7978-40FC-BFF0-655BBA6B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Созданная документация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E98F02-A5A5-43FC-9CE8-F14A022EF7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7"/>
          <a:stretch/>
        </p:blipFill>
        <p:spPr>
          <a:xfrm>
            <a:off x="1545996" y="1852238"/>
            <a:ext cx="8088198" cy="46227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1327FB-955F-4BE9-9FB0-F8235A2E3071}"/>
              </a:ext>
            </a:extLst>
          </p:cNvPr>
          <p:cNvSpPr txBox="1"/>
          <p:nvPr/>
        </p:nvSpPr>
        <p:spPr>
          <a:xfrm>
            <a:off x="1451729" y="1435771"/>
            <a:ext cx="556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документации </a:t>
            </a:r>
            <a:r>
              <a:rPr lang="en-US" dirty="0"/>
              <a:t>Swagger </a:t>
            </a:r>
            <a:r>
              <a:rPr lang="ru-RU" dirty="0"/>
              <a:t>у сервиса библиотеки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237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994-7978-40FC-BFF0-655BBA6B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Созданная документация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A2C1EB-8226-4175-931F-EF01E3639C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943"/>
          <a:stretch/>
        </p:blipFill>
        <p:spPr>
          <a:xfrm>
            <a:off x="773593" y="1838252"/>
            <a:ext cx="4992946" cy="478169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622D5A-C99A-4294-ADCC-154F29880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184" y="1827614"/>
            <a:ext cx="4451373" cy="4792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80C138-03B0-4DD0-9437-6680274A6F2A}"/>
              </a:ext>
            </a:extLst>
          </p:cNvPr>
          <p:cNvSpPr txBox="1"/>
          <p:nvPr/>
        </p:nvSpPr>
        <p:spPr>
          <a:xfrm>
            <a:off x="773593" y="1448855"/>
            <a:ext cx="3491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</a:t>
            </a:r>
            <a:r>
              <a:rPr lang="en-US" dirty="0"/>
              <a:t>XML </a:t>
            </a:r>
            <a:r>
              <a:rPr lang="ru-RU" dirty="0"/>
              <a:t>документации кода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3995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D9994-7978-40FC-BFF0-655BBA6B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Созданная документация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753082-D37B-4CA2-8A58-139A49D8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27598"/>
            <a:ext cx="5024487" cy="48688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268BD6-49A8-4ADF-A196-5FA0B8E42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6" y="1715678"/>
            <a:ext cx="5597302" cy="4880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EAAB54-6BF7-440F-873D-E2E6228DC7A1}"/>
              </a:ext>
            </a:extLst>
          </p:cNvPr>
          <p:cNvSpPr txBox="1"/>
          <p:nvPr/>
        </p:nvSpPr>
        <p:spPr>
          <a:xfrm>
            <a:off x="405355" y="1360355"/>
            <a:ext cx="692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</a:t>
            </a:r>
            <a:r>
              <a:rPr lang="en-US" dirty="0"/>
              <a:t>README</a:t>
            </a:r>
            <a:r>
              <a:rPr lang="ru-RU" dirty="0"/>
              <a:t> документации репозитория</a:t>
            </a:r>
            <a:r>
              <a:rPr lang="en-US" dirty="0"/>
              <a:t> </a:t>
            </a:r>
            <a:r>
              <a:rPr lang="ru-RU" dirty="0"/>
              <a:t>и сервиса библиотеки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4283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66A80-0987-4A8D-8D9F-F03F7E2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91ACE7-D463-4349-BF12-D45ECF531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25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/>
              <a:t>В ходе выполнения проекта были изучены и применены современные подходы к разработке backend-систем на платформе.</a:t>
            </a:r>
          </a:p>
          <a:p>
            <a:r>
              <a:rPr lang="ru-RU" sz="2000" dirty="0"/>
              <a:t>В процессе разработки была реализована серверная система управления библиотекой, обеспечивающая обработку основных бизнес-процессов, связанных с управлением книгами, читателями и выдачей литературы.</a:t>
            </a:r>
            <a:endParaRPr lang="en-US" sz="2000" dirty="0"/>
          </a:p>
          <a:p>
            <a:r>
              <a:rPr lang="ru-RU" sz="2000" dirty="0"/>
              <a:t>Практический опыт был получен в области интеграции внешних сервисов и инфраструктурных компонентов, включая кэширование, файловое хранилище, обмен сообщениями между сервисами, выполнение фоновых задач и автоматизацию уведомлений. Также были изучены подходы к контейнеризации приложения и настройке среды развертывания</a:t>
            </a:r>
            <a:r>
              <a:rPr lang="en-US" sz="2000" dirty="0"/>
              <a:t> c </a:t>
            </a:r>
            <a:r>
              <a:rPr lang="ru-RU" sz="2000" dirty="0"/>
              <a:t>помощью </a:t>
            </a:r>
            <a:r>
              <a:rPr lang="en-US" sz="2000" dirty="0"/>
              <a:t>Docker</a:t>
            </a:r>
            <a:r>
              <a:rPr lang="ru-RU" sz="2000" dirty="0"/>
              <a:t>.</a:t>
            </a:r>
          </a:p>
          <a:p>
            <a:r>
              <a:rPr lang="ru-RU" sz="2000" dirty="0"/>
              <a:t>Дополнительно были закреплены навыки тестирования, документирования и обеспечения качества программного обеспечения, что позволило повысить надёжность, поддерживаемость и расширяемость разработанной системы.</a:t>
            </a:r>
          </a:p>
          <a:p>
            <a:r>
              <a:rPr lang="ru-RU" sz="2000" dirty="0"/>
              <a:t>В результате выполнения проекта были достигнуты поставленные цели, а также получен комплексный опыт разработки современных распределённых backend-приложений, приближённых к требованиям реальной промышленной разработки.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790935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802</Words>
  <Application>Microsoft Office PowerPoint</Application>
  <PresentationFormat>Широкоэкранный</PresentationFormat>
  <Paragraphs>87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Тема Office</vt:lpstr>
      <vt:lpstr>Технологическая (проектно-технологическая практика) по .NET</vt:lpstr>
      <vt:lpstr>Цели</vt:lpstr>
      <vt:lpstr>Задачи</vt:lpstr>
      <vt:lpstr>Исходная архитектура</vt:lpstr>
      <vt:lpstr>Целевая архитектура</vt:lpstr>
      <vt:lpstr>Примеры рефакторинга</vt:lpstr>
      <vt:lpstr>Примеры рефакторинга</vt:lpstr>
      <vt:lpstr>Примеры рефакторинга</vt:lpstr>
      <vt:lpstr>Примеры рефакторинга</vt:lpstr>
      <vt:lpstr>Примеры рефакторинга</vt:lpstr>
      <vt:lpstr>Примеры рефакторинга</vt:lpstr>
      <vt:lpstr>Структура unit-тестов</vt:lpstr>
      <vt:lpstr>Результаты покрытия тестами</vt:lpstr>
      <vt:lpstr>Результаты покрытия тестами</vt:lpstr>
      <vt:lpstr>Процесс миграции на .NET 10</vt:lpstr>
      <vt:lpstr>Процесс миграции на .NET 10</vt:lpstr>
      <vt:lpstr>Процесс миграции на .NET 10</vt:lpstr>
      <vt:lpstr>Созданная документация</vt:lpstr>
      <vt:lpstr>Созданная документация</vt:lpstr>
      <vt:lpstr>Созданная документация</vt:lpstr>
      <vt:lpstr>Созданная документация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Технологическая (проектно-технологическая практика) по .NET</dc:title>
  <dc:creator>Егор Удиряков</dc:creator>
  <cp:lastModifiedBy>Егор Удиряков</cp:lastModifiedBy>
  <cp:revision>3</cp:revision>
  <dcterms:created xsi:type="dcterms:W3CDTF">2026-05-24T07:13:16Z</dcterms:created>
  <dcterms:modified xsi:type="dcterms:W3CDTF">2026-06-05T09:43:31Z</dcterms:modified>
</cp:coreProperties>
</file>